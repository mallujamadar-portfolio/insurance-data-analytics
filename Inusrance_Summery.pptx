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1" r:id="rId3"/>
    <p:sldId id="263" r:id="rId4"/>
    <p:sldId id="262" r:id="rId5"/>
    <p:sldId id="266" r:id="rId6"/>
    <p:sldId id="256" r:id="rId7"/>
    <p:sldId id="272" r:id="rId8"/>
    <p:sldId id="273" r:id="rId9"/>
    <p:sldId id="274" r:id="rId10"/>
    <p:sldId id="279" r:id="rId11"/>
    <p:sldId id="278" r:id="rId12"/>
    <p:sldId id="258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1AAA2-BDAB-A1C6-FCFD-615C81606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834D8-16B5-FEE0-6DCC-EEACC1DA6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ACF60-2E7D-3CCF-87A4-78B8B2F9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EB2A-9DA6-46BD-AC58-4A268EC634F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88796-AAF4-947C-6B53-372C6F6B1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77041-B3C1-C14B-A317-973BB316C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259F-2879-4450-B22D-31839B773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393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DFC34-CEEB-AED2-DD30-979679E38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08DC4-DB3C-1EB8-7A3C-A43AC69E1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F2690-5E7B-E1C1-B00F-BFB01F05C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EB2A-9DA6-46BD-AC58-4A268EC634F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B86EB-3574-5007-3428-C52F72A8E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97B34-C954-9846-8ED3-D3AABF941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259F-2879-4450-B22D-31839B773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653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4F0A6-D105-1C93-0B06-0EE864BF4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EFB51-F889-AE20-F35B-D4DA1E24D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91869-DA85-7598-340E-0CC5F6152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EB2A-9DA6-46BD-AC58-4A268EC634F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9B951-9429-DBB8-32A9-156101B9E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8FB3B-68E8-C840-B584-6DFA6FFDB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259F-2879-4450-B22D-31839B773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482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28811-D6AB-E89E-3397-981BBA72C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92E6B-F361-DE5D-3469-68E8C9CDA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68736-C3D7-9038-1B73-E4601CA40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6E627-4339-2719-0A18-C53523433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EB2A-9DA6-46BD-AC58-4A268EC634F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A4876-3AF3-5ED3-D040-039F26DAC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D40AB-C25B-90BC-8E53-8AC62FC3A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259F-2879-4450-B22D-31839B773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466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4DFDB-E4B8-4CC5-89AB-2BDA02D38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6AB4B-8E63-707D-31AD-153688A59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8FDCE-8068-323A-E46C-75763CDD1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B9846A-DC42-5295-F8B3-2D2E83EA23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3E8159-B1B8-B33E-E1D5-1934830898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B40854-4021-FD3A-63EF-E54BCC087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EB2A-9DA6-46BD-AC58-4A268EC634F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2B0E36-6EFB-0662-9E1A-11C29F8E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40348D-7CD5-A998-59F6-C5735463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259F-2879-4450-B22D-31839B773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598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B7AB1-0BA4-9B90-D500-684A98A00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D6E9A-38DF-D3C6-1D66-229A041F3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EB2A-9DA6-46BD-AC58-4A268EC634F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DF2AD9-6E84-4157-0510-DF97D7FD6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EBD64-A4B5-90A1-A27F-405AF0F15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259F-2879-4450-B22D-31839B773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10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6D5E1C-0991-7A05-03C1-DE0B7D934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EB2A-9DA6-46BD-AC58-4A268EC634F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76DF44-5841-B685-0CD7-044E6C497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DCD11-CF43-2E51-1BCD-24F2AEF2E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259F-2879-4450-B22D-31839B773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770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A1993-0E33-A758-C7C4-42EA8704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07AB8-2ABC-22C7-7049-11BE55D25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87012-9EEB-5479-76C2-C4215DCEA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6931D-EF8F-CCAA-76DA-0C47E68FA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EB2A-9DA6-46BD-AC58-4A268EC634F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22467-6F94-77CC-2A37-1E9249DD9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A2B49-8736-B461-DA88-137DA098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259F-2879-4450-B22D-31839B773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724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C4F9-446D-231D-7F36-77F6CA564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48F0F7-48F5-11A4-CFF2-516FF260B4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494B0-2573-B857-859B-5B75D6FCB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1B305-C1E0-A803-7E24-45A658DC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EB2A-9DA6-46BD-AC58-4A268EC634F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6708F-3666-83B4-5066-2526C550F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13848-0E9F-538E-4046-C157EE816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259F-2879-4450-B22D-31839B773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B11DA-387B-D883-0C45-C00FAD0C1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0AA50-0979-540F-5D8D-FE447445D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78B35-75CB-59FA-9837-6CCA3E397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EB2A-9DA6-46BD-AC58-4A268EC634F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8F906-F009-6EF7-DFA5-81925F30D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46A99-03DA-3F6E-BE99-6941457B2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259F-2879-4450-B22D-31839B773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956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6F678D-4CFF-73D2-39C6-A9D6C9DA1E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C4D865-B4AB-53DA-3F46-AEFEAA2D0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A9544-0CAB-5A2F-31EE-277FAEB53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EB2A-9DA6-46BD-AC58-4A268EC634F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62CBD-3F12-1998-ACF2-CE3C09FE6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CB978-1062-4277-5176-CD1EA742F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259F-2879-4450-B22D-31839B773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21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4DC7A8-6D83-7CE2-A885-3875F7B6E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DA624-C58E-0666-6775-B09F10827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587D1-BC0D-FFA8-68E2-03A36241D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5EB2A-9DA6-46BD-AC58-4A268EC634F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946B5-B1B9-3432-9EA0-1F71334CB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548E9-75C5-EA98-C51A-B588E0AD8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7259F-2879-4450-B22D-31839B773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184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uple of paper cutouts under a blue umbrella&#10;&#10;AI-generated content may be incorrect.">
            <a:extLst>
              <a:ext uri="{FF2B5EF4-FFF2-40B4-BE49-F238E27FC236}">
                <a16:creationId xmlns:a16="http://schemas.microsoft.com/office/drawing/2014/main" id="{14C736D5-A2BE-94CB-2D62-78B0A20B3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71472F-39B4-F8EE-BE44-609C752A11A4}"/>
              </a:ext>
            </a:extLst>
          </p:cNvPr>
          <p:cNvSpPr txBox="1"/>
          <p:nvPr/>
        </p:nvSpPr>
        <p:spPr>
          <a:xfrm>
            <a:off x="825908" y="1076632"/>
            <a:ext cx="62090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b="1" dirty="0">
                <a:solidFill>
                  <a:schemeClr val="tx2"/>
                </a:solidFill>
              </a:rPr>
              <a:t>INSURANCE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1B4A8B-C529-3C9B-116E-439C89AEBC9D}"/>
              </a:ext>
            </a:extLst>
          </p:cNvPr>
          <p:cNvSpPr txBox="1"/>
          <p:nvPr/>
        </p:nvSpPr>
        <p:spPr>
          <a:xfrm>
            <a:off x="1002889" y="2105561"/>
            <a:ext cx="60320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b="1" dirty="0">
                <a:solidFill>
                  <a:schemeClr val="accent1"/>
                </a:solidFill>
              </a:rPr>
              <a:t>ANALYTICS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BA2081-4DDB-4D50-933F-336F3CA5BBF4}"/>
              </a:ext>
            </a:extLst>
          </p:cNvPr>
          <p:cNvSpPr txBox="1"/>
          <p:nvPr/>
        </p:nvSpPr>
        <p:spPr>
          <a:xfrm>
            <a:off x="1246957" y="5319703"/>
            <a:ext cx="2771977" cy="1021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Prepared by : Mallikarjun</a:t>
            </a:r>
          </a:p>
          <a:p>
            <a:endParaRPr lang="en-IN" b="1" dirty="0"/>
          </a:p>
          <a:p>
            <a:pPr>
              <a:lnSpc>
                <a:spcPct val="150000"/>
              </a:lnSpc>
            </a:pPr>
            <a:r>
              <a:rPr lang="en-IN" b="1" dirty="0"/>
              <a:t>Date : August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B09F2E-D159-886F-0DA4-81D50F6F385F}"/>
              </a:ext>
            </a:extLst>
          </p:cNvPr>
          <p:cNvSpPr txBox="1"/>
          <p:nvPr/>
        </p:nvSpPr>
        <p:spPr>
          <a:xfrm>
            <a:off x="825546" y="3382540"/>
            <a:ext cx="42076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DATA  DRIVEN  INSIGHT  FOR </a:t>
            </a:r>
          </a:p>
          <a:p>
            <a:r>
              <a:rPr lang="en-IN" sz="2400" b="1" dirty="0"/>
              <a:t>SMARTER  DECISIONS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03D124-1E7D-70D5-7FF0-3F6BE42CD36D}"/>
              </a:ext>
            </a:extLst>
          </p:cNvPr>
          <p:cNvCxnSpPr/>
          <p:nvPr/>
        </p:nvCxnSpPr>
        <p:spPr>
          <a:xfrm>
            <a:off x="1002889" y="4380271"/>
            <a:ext cx="154858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1127CFB-DD4C-C498-576C-BF7DEA553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40" y="5329988"/>
            <a:ext cx="480897" cy="4218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F2BEAD-4430-18AA-28EA-870B261E4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45" y="5925475"/>
            <a:ext cx="417791" cy="41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63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ipboard with check marks&#10;&#10;AI-generated content may be incorrect.">
            <a:extLst>
              <a:ext uri="{FF2B5EF4-FFF2-40B4-BE49-F238E27FC236}">
                <a16:creationId xmlns:a16="http://schemas.microsoft.com/office/drawing/2014/main" id="{A16B9E57-4A15-B7D5-07C6-2245193F6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FFDA0A-F58A-DBC8-FD53-D1343C0F95F5}"/>
              </a:ext>
            </a:extLst>
          </p:cNvPr>
          <p:cNvSpPr txBox="1"/>
          <p:nvPr/>
        </p:nvSpPr>
        <p:spPr>
          <a:xfrm>
            <a:off x="759542" y="1614948"/>
            <a:ext cx="3959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01            </a:t>
            </a:r>
            <a:r>
              <a:rPr lang="en-IN" sz="2000" b="1" dirty="0"/>
              <a:t>Project Overview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9D2E04-9FD3-5553-47CE-CDF66C2D0079}"/>
              </a:ext>
            </a:extLst>
          </p:cNvPr>
          <p:cNvSpPr txBox="1"/>
          <p:nvPr/>
        </p:nvSpPr>
        <p:spPr>
          <a:xfrm>
            <a:off x="805562" y="2315497"/>
            <a:ext cx="3250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02            </a:t>
            </a:r>
            <a:r>
              <a:rPr lang="en-IN" sz="2000" b="1" dirty="0"/>
              <a:t>Date Overview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202158-C6E1-7569-44C0-CA302D9D9FD1}"/>
              </a:ext>
            </a:extLst>
          </p:cNvPr>
          <p:cNvSpPr txBox="1"/>
          <p:nvPr/>
        </p:nvSpPr>
        <p:spPr>
          <a:xfrm>
            <a:off x="1489587" y="294968"/>
            <a:ext cx="219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/>
              <a:t>AGENDA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0C3FB2-96EF-4572-F64A-F29051F28DFC}"/>
              </a:ext>
            </a:extLst>
          </p:cNvPr>
          <p:cNvCxnSpPr>
            <a:cxnSpLocks/>
          </p:cNvCxnSpPr>
          <p:nvPr/>
        </p:nvCxnSpPr>
        <p:spPr>
          <a:xfrm>
            <a:off x="1489587" y="1002854"/>
            <a:ext cx="1529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7CD453C-C714-36F8-0735-CD142F247A66}"/>
              </a:ext>
            </a:extLst>
          </p:cNvPr>
          <p:cNvSpPr txBox="1"/>
          <p:nvPr/>
        </p:nvSpPr>
        <p:spPr>
          <a:xfrm>
            <a:off x="805561" y="2948376"/>
            <a:ext cx="4400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03            </a:t>
            </a:r>
            <a:r>
              <a:rPr lang="en-IN" sz="2000" b="1" dirty="0"/>
              <a:t>Key Performance Indicators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947068-C6D5-7824-1C6C-99C1EEDD63AA}"/>
              </a:ext>
            </a:extLst>
          </p:cNvPr>
          <p:cNvSpPr txBox="1"/>
          <p:nvPr/>
        </p:nvSpPr>
        <p:spPr>
          <a:xfrm>
            <a:off x="778861" y="3619429"/>
            <a:ext cx="3598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04</a:t>
            </a:r>
            <a:r>
              <a:rPr lang="en-IN" sz="2000" b="1" dirty="0"/>
              <a:t>            Dashboard Overview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9C0951-988E-C2DF-4F39-F0AB73B7EDEE}"/>
              </a:ext>
            </a:extLst>
          </p:cNvPr>
          <p:cNvSpPr txBox="1"/>
          <p:nvPr/>
        </p:nvSpPr>
        <p:spPr>
          <a:xfrm>
            <a:off x="759542" y="4290482"/>
            <a:ext cx="3598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05    </a:t>
            </a:r>
            <a:r>
              <a:rPr lang="en-IN" sz="2000" b="1" dirty="0"/>
              <a:t>        Key Insights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FB1384-FF1E-77DA-150F-C615D9E434BC}"/>
              </a:ext>
            </a:extLst>
          </p:cNvPr>
          <p:cNvSpPr txBox="1"/>
          <p:nvPr/>
        </p:nvSpPr>
        <p:spPr>
          <a:xfrm>
            <a:off x="805561" y="4961535"/>
            <a:ext cx="480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06 </a:t>
            </a:r>
            <a:r>
              <a:rPr lang="en-IN" b="1" dirty="0"/>
              <a:t>            Recommendations  &amp;  Conclusion</a:t>
            </a:r>
          </a:p>
        </p:txBody>
      </p:sp>
    </p:spTree>
    <p:extLst>
      <p:ext uri="{BB962C8B-B14F-4D97-AF65-F5344CB8AC3E}">
        <p14:creationId xmlns:p14="http://schemas.microsoft.com/office/powerpoint/2010/main" val="514733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ipboard with a checklist and check marks&#10;&#10;AI-generated content may be incorrect.">
            <a:extLst>
              <a:ext uri="{FF2B5EF4-FFF2-40B4-BE49-F238E27FC236}">
                <a16:creationId xmlns:a16="http://schemas.microsoft.com/office/drawing/2014/main" id="{90869FD0-37F5-B2AF-8C00-564FF133E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CC0329-AB62-87A9-72D9-2EDB35B5FB37}"/>
              </a:ext>
            </a:extLst>
          </p:cNvPr>
          <p:cNvSpPr txBox="1"/>
          <p:nvPr/>
        </p:nvSpPr>
        <p:spPr>
          <a:xfrm>
            <a:off x="1460090" y="1253614"/>
            <a:ext cx="7048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Analyze insurance policy, customer, premium and claims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Identify important business trends and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Support better customer and insurance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7A5B6A-193A-30A3-E3E9-B059AAF5C067}"/>
              </a:ext>
            </a:extLst>
          </p:cNvPr>
          <p:cNvSpPr txBox="1"/>
          <p:nvPr/>
        </p:nvSpPr>
        <p:spPr>
          <a:xfrm>
            <a:off x="1607573" y="2638609"/>
            <a:ext cx="597309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Scope</a:t>
            </a:r>
          </a:p>
          <a:p>
            <a:r>
              <a:rPr lang="en-US" b="1" dirty="0"/>
              <a:t>Customer analysis , Policy analysis, Premium analysis , Claims analysis , Renewal and lapse analysis.</a:t>
            </a:r>
          </a:p>
          <a:p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1FBD3A-0ADF-4697-1E32-349F24129450}"/>
              </a:ext>
            </a:extLst>
          </p:cNvPr>
          <p:cNvSpPr txBox="1"/>
          <p:nvPr/>
        </p:nvSpPr>
        <p:spPr>
          <a:xfrm>
            <a:off x="1576108" y="3732641"/>
            <a:ext cx="45198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Tools Used</a:t>
            </a:r>
          </a:p>
          <a:p>
            <a:r>
              <a:rPr lang="en-US" b="1" dirty="0"/>
              <a:t>Excel, MySQL , Power BI, Tableau</a:t>
            </a:r>
            <a:r>
              <a:rPr lang="en-IN" b="1" dirty="0"/>
              <a:t>, Python.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F31E5-944F-CE38-CBFE-11272090CFCF}"/>
              </a:ext>
            </a:extLst>
          </p:cNvPr>
          <p:cNvSpPr txBox="1"/>
          <p:nvPr/>
        </p:nvSpPr>
        <p:spPr>
          <a:xfrm>
            <a:off x="1607573" y="4683474"/>
            <a:ext cx="39542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Data Source</a:t>
            </a:r>
            <a:endParaRPr lang="en-US" sz="2400" dirty="0"/>
          </a:p>
          <a:p>
            <a:r>
              <a:rPr lang="en-US" b="1" dirty="0"/>
              <a:t>Insurance policy and claims dataset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C30C5-C90A-56B2-7871-10E4C67BFBA0}"/>
              </a:ext>
            </a:extLst>
          </p:cNvPr>
          <p:cNvSpPr txBox="1"/>
          <p:nvPr/>
        </p:nvSpPr>
        <p:spPr>
          <a:xfrm>
            <a:off x="1360871" y="237951"/>
            <a:ext cx="4447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tx2"/>
                </a:solidFill>
              </a:rPr>
              <a:t>PROJECT OVERVIEW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38C6EA-2EC6-8BF2-9DC4-52C873699302}"/>
              </a:ext>
            </a:extLst>
          </p:cNvPr>
          <p:cNvCxnSpPr>
            <a:cxnSpLocks/>
          </p:cNvCxnSpPr>
          <p:nvPr/>
        </p:nvCxnSpPr>
        <p:spPr>
          <a:xfrm>
            <a:off x="1460090" y="943897"/>
            <a:ext cx="14895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643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circular object with a symbol on it&#10;&#10;AI-generated content may be incorrect.">
            <a:extLst>
              <a:ext uri="{FF2B5EF4-FFF2-40B4-BE49-F238E27FC236}">
                <a16:creationId xmlns:a16="http://schemas.microsoft.com/office/drawing/2014/main" id="{DC075166-56EF-A866-6C55-1E7944E4A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3C43C2-AD41-8499-BED8-E8DBD06190FB}"/>
              </a:ext>
            </a:extLst>
          </p:cNvPr>
          <p:cNvSpPr txBox="1"/>
          <p:nvPr/>
        </p:nvSpPr>
        <p:spPr>
          <a:xfrm>
            <a:off x="1710813" y="1578077"/>
            <a:ext cx="1572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Total Policies</a:t>
            </a:r>
          </a:p>
          <a:p>
            <a:r>
              <a:rPr lang="en-IN" b="1" dirty="0"/>
              <a:t>5,000+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128071-F07B-AF4B-E7FF-9E9D68872894}"/>
              </a:ext>
            </a:extLst>
          </p:cNvPr>
          <p:cNvSpPr txBox="1"/>
          <p:nvPr/>
        </p:nvSpPr>
        <p:spPr>
          <a:xfrm>
            <a:off x="1710813" y="2610465"/>
            <a:ext cx="2551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Time Period</a:t>
            </a:r>
          </a:p>
          <a:p>
            <a:r>
              <a:rPr lang="en-IN" b="1" dirty="0"/>
              <a:t>Dec 2014 – Dec 2024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35F508-5665-901A-6FEE-AABAC055429D}"/>
              </a:ext>
            </a:extLst>
          </p:cNvPr>
          <p:cNvSpPr txBox="1"/>
          <p:nvPr/>
        </p:nvSpPr>
        <p:spPr>
          <a:xfrm>
            <a:off x="1710813" y="3458496"/>
            <a:ext cx="4616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Data Sources</a:t>
            </a:r>
          </a:p>
          <a:p>
            <a:r>
              <a:rPr lang="en-IN" b="1" dirty="0"/>
              <a:t>Customer information, Policy, Claims,</a:t>
            </a:r>
          </a:p>
          <a:p>
            <a:r>
              <a:rPr lang="en-IN" b="1" dirty="0"/>
              <a:t>Payments, Additional Fields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AB0E51-A9A6-E0F1-6519-0311CB40F055}"/>
              </a:ext>
            </a:extLst>
          </p:cNvPr>
          <p:cNvSpPr txBox="1"/>
          <p:nvPr/>
        </p:nvSpPr>
        <p:spPr>
          <a:xfrm>
            <a:off x="1710812" y="4583526"/>
            <a:ext cx="58846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Data Preparation</a:t>
            </a:r>
          </a:p>
          <a:p>
            <a:r>
              <a:rPr lang="en-US" b="1" dirty="0"/>
              <a:t>Data cleaning , Missing-value checking ,Data validation, Transformation , Dashboard-ready dataset 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A3CAC0-C9C2-68A3-50CC-D50F8F15A441}"/>
              </a:ext>
            </a:extLst>
          </p:cNvPr>
          <p:cNvSpPr txBox="1"/>
          <p:nvPr/>
        </p:nvSpPr>
        <p:spPr>
          <a:xfrm>
            <a:off x="1489588" y="323220"/>
            <a:ext cx="4323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</a:rPr>
              <a:t>DATA OVERVIEEW</a:t>
            </a:r>
          </a:p>
        </p:txBody>
      </p:sp>
    </p:spTree>
    <p:extLst>
      <p:ext uri="{BB962C8B-B14F-4D97-AF65-F5344CB8AC3E}">
        <p14:creationId xmlns:p14="http://schemas.microsoft.com/office/powerpoint/2010/main" val="867530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51B96F-8221-BDBD-FE34-A247E4375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021BFA-8EE2-FC7A-A999-C10613D023A1}"/>
              </a:ext>
            </a:extLst>
          </p:cNvPr>
          <p:cNvSpPr txBox="1"/>
          <p:nvPr/>
        </p:nvSpPr>
        <p:spPr>
          <a:xfrm>
            <a:off x="1401097" y="221226"/>
            <a:ext cx="7338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</a:rPr>
              <a:t>KEY  PERFORMANCE  INDICATORS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CB2F82-39AC-8B42-8E30-AAA3C67A7DDD}"/>
              </a:ext>
            </a:extLst>
          </p:cNvPr>
          <p:cNvSpPr txBox="1"/>
          <p:nvPr/>
        </p:nvSpPr>
        <p:spPr>
          <a:xfrm>
            <a:off x="1651820" y="2418735"/>
            <a:ext cx="1695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Total Premium</a:t>
            </a:r>
          </a:p>
          <a:p>
            <a:r>
              <a:rPr lang="en-IN" b="1" dirty="0"/>
              <a:t>    $ 5.26M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156BCB-9621-BDDE-2951-B4E4777D86AB}"/>
              </a:ext>
            </a:extLst>
          </p:cNvPr>
          <p:cNvSpPr txBox="1"/>
          <p:nvPr/>
        </p:nvSpPr>
        <p:spPr>
          <a:xfrm>
            <a:off x="4165220" y="2418735"/>
            <a:ext cx="1572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Total Policies</a:t>
            </a:r>
          </a:p>
          <a:p>
            <a:r>
              <a:rPr lang="en-IN" b="1" dirty="0"/>
              <a:t>      5,000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A82CE6-C357-2E34-3F86-6F53B002D90D}"/>
              </a:ext>
            </a:extLst>
          </p:cNvPr>
          <p:cNvSpPr txBox="1"/>
          <p:nvPr/>
        </p:nvSpPr>
        <p:spPr>
          <a:xfrm>
            <a:off x="6710516" y="2418734"/>
            <a:ext cx="14851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Total Claims</a:t>
            </a:r>
          </a:p>
          <a:p>
            <a:r>
              <a:rPr lang="en-IN" b="1" dirty="0"/>
              <a:t>     5,000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A82BD9-7DB8-389B-E997-31695954A9DC}"/>
              </a:ext>
            </a:extLst>
          </p:cNvPr>
          <p:cNvSpPr txBox="1"/>
          <p:nvPr/>
        </p:nvSpPr>
        <p:spPr>
          <a:xfrm>
            <a:off x="8613058" y="2433481"/>
            <a:ext cx="22433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Total Claim Amount</a:t>
            </a:r>
          </a:p>
          <a:p>
            <a:r>
              <a:rPr lang="en-IN" b="1" dirty="0"/>
              <a:t>          $ 251M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030B27-61BD-08D7-B7D4-C9BD138A67C5}"/>
              </a:ext>
            </a:extLst>
          </p:cNvPr>
          <p:cNvSpPr txBox="1"/>
          <p:nvPr/>
        </p:nvSpPr>
        <p:spPr>
          <a:xfrm>
            <a:off x="1511301" y="4793226"/>
            <a:ext cx="1976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Approved Claims</a:t>
            </a:r>
          </a:p>
          <a:p>
            <a:r>
              <a:rPr lang="en-IN" b="1" dirty="0"/>
              <a:t>          1,712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73059C-155C-09DB-13E1-8D91DA06ED8D}"/>
              </a:ext>
            </a:extLst>
          </p:cNvPr>
          <p:cNvSpPr txBox="1"/>
          <p:nvPr/>
        </p:nvSpPr>
        <p:spPr>
          <a:xfrm>
            <a:off x="3964140" y="4837471"/>
            <a:ext cx="17732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Denied  Claims</a:t>
            </a:r>
          </a:p>
          <a:p>
            <a:r>
              <a:rPr lang="en-IN" b="1" dirty="0"/>
              <a:t>          1,638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B072FE-E5D2-FCE3-380A-D3EF819E2BD7}"/>
              </a:ext>
            </a:extLst>
          </p:cNvPr>
          <p:cNvSpPr txBox="1"/>
          <p:nvPr/>
        </p:nvSpPr>
        <p:spPr>
          <a:xfrm>
            <a:off x="6539096" y="4793225"/>
            <a:ext cx="1818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Pending Claims</a:t>
            </a:r>
          </a:p>
          <a:p>
            <a:r>
              <a:rPr lang="en-IN" b="1" dirty="0"/>
              <a:t>        1,650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F23B9A-B7B9-19BD-324B-49AD4A47824F}"/>
              </a:ext>
            </a:extLst>
          </p:cNvPr>
          <p:cNvSpPr txBox="1"/>
          <p:nvPr/>
        </p:nvSpPr>
        <p:spPr>
          <a:xfrm>
            <a:off x="8791655" y="4793225"/>
            <a:ext cx="2064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Total Customers</a:t>
            </a:r>
          </a:p>
          <a:p>
            <a:r>
              <a:rPr lang="en-IN" b="1" dirty="0"/>
              <a:t>         3,148</a:t>
            </a:r>
          </a:p>
        </p:txBody>
      </p:sp>
    </p:spTree>
    <p:extLst>
      <p:ext uri="{BB962C8B-B14F-4D97-AF65-F5344CB8AC3E}">
        <p14:creationId xmlns:p14="http://schemas.microsoft.com/office/powerpoint/2010/main" val="4647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75EDD-CB09-BDFF-689B-A53B10C968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2A655-1EBD-FB51-33A9-CD11FE45E4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white background with blue waves&#10;&#10;AI-generated content may be incorrect.">
            <a:extLst>
              <a:ext uri="{FF2B5EF4-FFF2-40B4-BE49-F238E27FC236}">
                <a16:creationId xmlns:a16="http://schemas.microsoft.com/office/drawing/2014/main" id="{4E851995-591A-517F-9DEE-7822CAFBB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7" name="Picture 6" descr="A screenshot of a data dashboard&#10;&#10;AI-generated content may be incorrect.">
            <a:extLst>
              <a:ext uri="{FF2B5EF4-FFF2-40B4-BE49-F238E27FC236}">
                <a16:creationId xmlns:a16="http://schemas.microsoft.com/office/drawing/2014/main" id="{49510796-A881-D69E-9917-8C7D4D6715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902590"/>
            <a:ext cx="12192001" cy="59554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7DEC80-D60E-E327-1D76-7D9430609C56}"/>
              </a:ext>
            </a:extLst>
          </p:cNvPr>
          <p:cNvSpPr txBox="1"/>
          <p:nvPr/>
        </p:nvSpPr>
        <p:spPr>
          <a:xfrm flipH="1">
            <a:off x="3891852" y="90442"/>
            <a:ext cx="4408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</a:rPr>
              <a:t>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2087211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ue waves&#10;&#10;AI-generated content may be incorrect.">
            <a:extLst>
              <a:ext uri="{FF2B5EF4-FFF2-40B4-BE49-F238E27FC236}">
                <a16:creationId xmlns:a16="http://schemas.microsoft.com/office/drawing/2014/main" id="{5EE36335-9AC1-6DE9-2D9A-84A8FEA2A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7" name="Picture 6" descr="A close-up of a dashboard&#10;&#10;AI-generated content may be incorrect.">
            <a:extLst>
              <a:ext uri="{FF2B5EF4-FFF2-40B4-BE49-F238E27FC236}">
                <a16:creationId xmlns:a16="http://schemas.microsoft.com/office/drawing/2014/main" id="{4EEF2804-86D4-D946-7627-D6AC4BA1B9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39" y="912822"/>
            <a:ext cx="12192000" cy="59451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94D082-7219-32D7-DD76-080DE853F19D}"/>
              </a:ext>
            </a:extLst>
          </p:cNvPr>
          <p:cNvSpPr txBox="1"/>
          <p:nvPr/>
        </p:nvSpPr>
        <p:spPr>
          <a:xfrm>
            <a:off x="3539614" y="133246"/>
            <a:ext cx="4232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</a:rPr>
              <a:t>Tableau Dashboard</a:t>
            </a:r>
          </a:p>
        </p:txBody>
      </p:sp>
    </p:spTree>
    <p:extLst>
      <p:ext uri="{BB962C8B-B14F-4D97-AF65-F5344CB8AC3E}">
        <p14:creationId xmlns:p14="http://schemas.microsoft.com/office/powerpoint/2010/main" val="1622285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ue waves&#10;&#10;AI-generated content may be incorrect.">
            <a:extLst>
              <a:ext uri="{FF2B5EF4-FFF2-40B4-BE49-F238E27FC236}">
                <a16:creationId xmlns:a16="http://schemas.microsoft.com/office/drawing/2014/main" id="{3C4BD98C-9957-A1C2-F405-2C2CDAF53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7" name="Picture 6" descr="A diagram and chart of a graph&#10;&#10;AI-generated content may be incorrect.">
            <a:extLst>
              <a:ext uri="{FF2B5EF4-FFF2-40B4-BE49-F238E27FC236}">
                <a16:creationId xmlns:a16="http://schemas.microsoft.com/office/drawing/2014/main" id="{65D0DEE2-C89B-8E3C-9954-884062DBE4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5" y="1214128"/>
            <a:ext cx="12146070" cy="44297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F6689E-AAD7-5B47-7D5B-5F1183706965}"/>
              </a:ext>
            </a:extLst>
          </p:cNvPr>
          <p:cNvSpPr txBox="1"/>
          <p:nvPr/>
        </p:nvSpPr>
        <p:spPr>
          <a:xfrm>
            <a:off x="4011561" y="283899"/>
            <a:ext cx="28504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</a:rPr>
              <a:t>Python Work</a:t>
            </a:r>
          </a:p>
        </p:txBody>
      </p:sp>
    </p:spTree>
    <p:extLst>
      <p:ext uri="{BB962C8B-B14F-4D97-AF65-F5344CB8AC3E}">
        <p14:creationId xmlns:p14="http://schemas.microsoft.com/office/powerpoint/2010/main" val="1560922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ue waves&#10;&#10;AI-generated content may be incorrect.">
            <a:extLst>
              <a:ext uri="{FF2B5EF4-FFF2-40B4-BE49-F238E27FC236}">
                <a16:creationId xmlns:a16="http://schemas.microsoft.com/office/drawing/2014/main" id="{6674B371-F353-E87B-C373-5E1BE1050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7" name="Picture 6" descr="A comparison of blue rectangular bars&#10;&#10;AI-generated content may be incorrect.">
            <a:extLst>
              <a:ext uri="{FF2B5EF4-FFF2-40B4-BE49-F238E27FC236}">
                <a16:creationId xmlns:a16="http://schemas.microsoft.com/office/drawing/2014/main" id="{FF42563A-BB0E-B6D0-063D-664C8EF845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2" y="1261760"/>
            <a:ext cx="12155596" cy="43344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FBBE22-82C0-CC0B-963A-FF8714DA4562}"/>
              </a:ext>
            </a:extLst>
          </p:cNvPr>
          <p:cNvSpPr txBox="1"/>
          <p:nvPr/>
        </p:nvSpPr>
        <p:spPr>
          <a:xfrm>
            <a:off x="3716594" y="307715"/>
            <a:ext cx="28504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</a:rPr>
              <a:t>Python Work</a:t>
            </a:r>
          </a:p>
        </p:txBody>
      </p:sp>
    </p:spTree>
    <p:extLst>
      <p:ext uri="{BB962C8B-B14F-4D97-AF65-F5344CB8AC3E}">
        <p14:creationId xmlns:p14="http://schemas.microsoft.com/office/powerpoint/2010/main" val="2258209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background with a blue circle and a blue circle&#10;&#10;AI-generated content may be incorrect.">
            <a:extLst>
              <a:ext uri="{FF2B5EF4-FFF2-40B4-BE49-F238E27FC236}">
                <a16:creationId xmlns:a16="http://schemas.microsoft.com/office/drawing/2014/main" id="{34217116-42BF-7C72-2037-EFEF4BB93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0B7BFB-E2E1-D06D-2C77-63E7A8E79DFE}"/>
              </a:ext>
            </a:extLst>
          </p:cNvPr>
          <p:cNvSpPr txBox="1"/>
          <p:nvPr/>
        </p:nvSpPr>
        <p:spPr>
          <a:xfrm>
            <a:off x="1238864" y="176981"/>
            <a:ext cx="3248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</a:rPr>
              <a:t>KEY 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7BA030-FD09-4E44-50A6-C7BEDDEF2D17}"/>
              </a:ext>
            </a:extLst>
          </p:cNvPr>
          <p:cNvSpPr txBox="1"/>
          <p:nvPr/>
        </p:nvSpPr>
        <p:spPr>
          <a:xfrm>
            <a:off x="1489587" y="1120878"/>
            <a:ext cx="659252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Customer Base: </a:t>
            </a:r>
            <a:r>
              <a:rPr lang="en-US" dirty="0"/>
              <a:t>The analysis covers 3,148 customers and 5,000 insurance policies across different policy types.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E6BA37-B6ED-7EFF-1770-FB480AD8155F}"/>
              </a:ext>
            </a:extLst>
          </p:cNvPr>
          <p:cNvSpPr txBox="1"/>
          <p:nvPr/>
        </p:nvSpPr>
        <p:spPr>
          <a:xfrm>
            <a:off x="1430592" y="2095552"/>
            <a:ext cx="696124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Premium Performance: </a:t>
            </a:r>
            <a:r>
              <a:rPr lang="en-US" dirty="0"/>
              <a:t>The total premium is ₹5.26M, with Health policies contributing the highest premium among the policy types.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92DCC0-609A-F20D-094D-6A83D95BB732}"/>
              </a:ext>
            </a:extLst>
          </p:cNvPr>
          <p:cNvSpPr txBox="1"/>
          <p:nvPr/>
        </p:nvSpPr>
        <p:spPr>
          <a:xfrm>
            <a:off x="1489587" y="2979174"/>
            <a:ext cx="696124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Renewal &amp; Lapse: </a:t>
            </a:r>
            <a:r>
              <a:rPr lang="en-US" dirty="0"/>
              <a:t>The renewal rate is 33.36%, while the lapse rate is 32.80%, showing an opportunity to improve customer retention.</a:t>
            </a:r>
            <a:endParaRPr lang="en-IN" dirty="0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5FFE9B58-8714-D69C-397F-7DE688245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68014" y="3896466"/>
            <a:ext cx="1081056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Claims Performance: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dashboard records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5,000 claims,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including approved, pending, and denied claims.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D0A0EC-75E0-F869-4284-D455195D0750}"/>
              </a:ext>
            </a:extLst>
          </p:cNvPr>
          <p:cNvSpPr txBox="1"/>
          <p:nvPr/>
        </p:nvSpPr>
        <p:spPr>
          <a:xfrm>
            <a:off x="1430592" y="4740345"/>
            <a:ext cx="70202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Customer &amp; Policy Trends:</a:t>
            </a:r>
            <a:r>
              <a:rPr lang="en-US" sz="2000" dirty="0"/>
              <a:t> </a:t>
            </a:r>
            <a:r>
              <a:rPr lang="en-US" dirty="0"/>
              <a:t>Customer age groups, policy types, payment methods, and claim status provide useful insights for business decision-making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666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 with lines&#10;&#10;AI-generated content may be incorrect.">
            <a:extLst>
              <a:ext uri="{FF2B5EF4-FFF2-40B4-BE49-F238E27FC236}">
                <a16:creationId xmlns:a16="http://schemas.microsoft.com/office/drawing/2014/main" id="{29F1A31C-8BFB-BBDA-E23B-186C159B9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EF1123-2FD0-48A1-B596-D9AB4DA9EE49}"/>
              </a:ext>
            </a:extLst>
          </p:cNvPr>
          <p:cNvSpPr txBox="1"/>
          <p:nvPr/>
        </p:nvSpPr>
        <p:spPr>
          <a:xfrm>
            <a:off x="1438763" y="205756"/>
            <a:ext cx="46572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</a:rPr>
              <a:t>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666EF-AC71-C658-1049-F25EEDB95AEE}"/>
              </a:ext>
            </a:extLst>
          </p:cNvPr>
          <p:cNvSpPr txBox="1"/>
          <p:nvPr/>
        </p:nvSpPr>
        <p:spPr>
          <a:xfrm>
            <a:off x="1489587" y="1057842"/>
            <a:ext cx="687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Improve Customer Retention:</a:t>
            </a:r>
            <a:r>
              <a:rPr lang="en-US" dirty="0"/>
              <a:t> Develop targeted retention programs for customers whose policies are approaching expiry.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EA4113-6FAC-662D-AE06-004F2EC7F412}"/>
              </a:ext>
            </a:extLst>
          </p:cNvPr>
          <p:cNvSpPr txBox="1"/>
          <p:nvPr/>
        </p:nvSpPr>
        <p:spPr>
          <a:xfrm>
            <a:off x="1438763" y="2115684"/>
            <a:ext cx="7388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Increase Renewals:</a:t>
            </a:r>
            <a:r>
              <a:rPr lang="en-US" dirty="0"/>
              <a:t> Send timely renewal reminders and provide suitable offers to encourage customers to renew their policies.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19641A-F23A-23F5-665F-C4077FBAFC1E}"/>
              </a:ext>
            </a:extLst>
          </p:cNvPr>
          <p:cNvSpPr txBox="1"/>
          <p:nvPr/>
        </p:nvSpPr>
        <p:spPr>
          <a:xfrm>
            <a:off x="1438763" y="2967770"/>
            <a:ext cx="7211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Reduce Policy Lapses:</a:t>
            </a:r>
            <a:r>
              <a:rPr lang="en-US" dirty="0"/>
              <a:t> Identify customers at high risk of lapse and take proactive steps to retain them.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185275-BE05-3B59-0C2F-D2B140366641}"/>
              </a:ext>
            </a:extLst>
          </p:cNvPr>
          <p:cNvSpPr txBox="1"/>
          <p:nvPr/>
        </p:nvSpPr>
        <p:spPr>
          <a:xfrm>
            <a:off x="1438763" y="4025612"/>
            <a:ext cx="7580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Improve Claims Management:</a:t>
            </a:r>
            <a:r>
              <a:rPr lang="en-US" dirty="0"/>
              <a:t> Analyze pending and denied claims to reduce processing time and improve customer satisfaction.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02A4FF-EAC8-9DCA-0B11-3489AFC47EE7}"/>
              </a:ext>
            </a:extLst>
          </p:cNvPr>
          <p:cNvSpPr txBox="1"/>
          <p:nvPr/>
        </p:nvSpPr>
        <p:spPr>
          <a:xfrm>
            <a:off x="1438763" y="4877698"/>
            <a:ext cx="7270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Personalized Insurance Offers:</a:t>
            </a:r>
            <a:r>
              <a:rPr lang="en-US" dirty="0"/>
              <a:t> Use customer and policy data to provide suitable insurance products and cross-selling opportunities.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8807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shield with a family and hands&#10;&#10;AI-generated content may be incorrect.">
            <a:extLst>
              <a:ext uri="{FF2B5EF4-FFF2-40B4-BE49-F238E27FC236}">
                <a16:creationId xmlns:a16="http://schemas.microsoft.com/office/drawing/2014/main" id="{03460C71-28CD-9200-9FF4-D015AAEE4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D23874-45A8-BC0E-E2A4-0223CDAB3AEE}"/>
              </a:ext>
            </a:extLst>
          </p:cNvPr>
          <p:cNvSpPr txBox="1"/>
          <p:nvPr/>
        </p:nvSpPr>
        <p:spPr>
          <a:xfrm>
            <a:off x="1519084" y="206477"/>
            <a:ext cx="3140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CB9A8-1AA1-24D4-6080-893E9D806690}"/>
              </a:ext>
            </a:extLst>
          </p:cNvPr>
          <p:cNvSpPr txBox="1"/>
          <p:nvPr/>
        </p:nvSpPr>
        <p:spPr>
          <a:xfrm>
            <a:off x="609600" y="1135062"/>
            <a:ext cx="5673213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The insurance analysis provides a clear understanding of customers, policies, premiums, renewals, and claims. The dashboards help identify important business trends and performance areas.</a:t>
            </a:r>
          </a:p>
          <a:p>
            <a:endParaRPr lang="en-US" sz="2000" b="1" dirty="0"/>
          </a:p>
          <a:p>
            <a:r>
              <a:rPr lang="en-US" sz="2000" b="1" dirty="0"/>
              <a:t>The analysis shows opportunities to improve customer retention, policy renewals, claims management, and personalized customer offerings. By using data-driven insights, the insurance business can improve customer satisfaction, operational efficiency, and overall business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405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wavy lines&#10;&#10;AI-generated content may be incorrect.">
            <a:extLst>
              <a:ext uri="{FF2B5EF4-FFF2-40B4-BE49-F238E27FC236}">
                <a16:creationId xmlns:a16="http://schemas.microsoft.com/office/drawing/2014/main" id="{B50E8CBB-ACEC-3B4A-1596-10F797249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528E89-D4C1-4E01-D3D4-8D7F2D8ACE06}"/>
              </a:ext>
            </a:extLst>
          </p:cNvPr>
          <p:cNvSpPr txBox="1"/>
          <p:nvPr/>
        </p:nvSpPr>
        <p:spPr>
          <a:xfrm>
            <a:off x="2875567" y="2286000"/>
            <a:ext cx="644086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0" b="1" dirty="0">
                <a:solidFill>
                  <a:srgbClr val="002060"/>
                </a:solidFill>
              </a:rPr>
              <a:t>THANK   YOU!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B7CD7D-889C-E181-C244-C6684395C934}"/>
              </a:ext>
            </a:extLst>
          </p:cNvPr>
          <p:cNvSpPr/>
          <p:nvPr/>
        </p:nvSpPr>
        <p:spPr>
          <a:xfrm>
            <a:off x="5995222" y="3458496"/>
            <a:ext cx="486697" cy="4424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F4CAA53-3583-EF13-5FF2-C5555DFCC658}"/>
              </a:ext>
            </a:extLst>
          </p:cNvPr>
          <p:cNvSpPr/>
          <p:nvPr/>
        </p:nvSpPr>
        <p:spPr>
          <a:xfrm>
            <a:off x="5324167" y="3609439"/>
            <a:ext cx="294968" cy="208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6D98B70-8982-5A17-69C3-74442986D4F7}"/>
              </a:ext>
            </a:extLst>
          </p:cNvPr>
          <p:cNvSpPr/>
          <p:nvPr/>
        </p:nvSpPr>
        <p:spPr>
          <a:xfrm>
            <a:off x="6858006" y="3613355"/>
            <a:ext cx="294968" cy="208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7D0700E-A8BE-255A-4B4B-001228E4C78E}"/>
              </a:ext>
            </a:extLst>
          </p:cNvPr>
          <p:cNvCxnSpPr>
            <a:cxnSpLocks/>
          </p:cNvCxnSpPr>
          <p:nvPr/>
        </p:nvCxnSpPr>
        <p:spPr>
          <a:xfrm>
            <a:off x="7405105" y="3710947"/>
            <a:ext cx="1333685" cy="2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991D2A-2121-3BD5-782F-AF488778B3F9}"/>
              </a:ext>
            </a:extLst>
          </p:cNvPr>
          <p:cNvCxnSpPr>
            <a:cxnSpLocks/>
          </p:cNvCxnSpPr>
          <p:nvPr/>
        </p:nvCxnSpPr>
        <p:spPr>
          <a:xfrm flipH="1" flipV="1">
            <a:off x="3739411" y="3710947"/>
            <a:ext cx="1237797" cy="21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4767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465</Words>
  <Application>Microsoft Office PowerPoint</Application>
  <PresentationFormat>Widescreen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mallu jamadar</dc:creator>
  <cp:lastModifiedBy>mallu jamadar</cp:lastModifiedBy>
  <cp:revision>6</cp:revision>
  <dcterms:created xsi:type="dcterms:W3CDTF">2026-08-28T16:20:57Z</dcterms:created>
  <dcterms:modified xsi:type="dcterms:W3CDTF">2026-08-28T19:14:51Z</dcterms:modified>
</cp:coreProperties>
</file>